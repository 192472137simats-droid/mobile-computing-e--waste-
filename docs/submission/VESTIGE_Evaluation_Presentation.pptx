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4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1D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estige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349240" y="0"/>
            <a:ext cx="6842455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5596128" cy="6858000"/>
          </a:xfrm>
          <a:prstGeom prst="rect">
            <a:avLst/>
          </a:prstGeom>
          <a:solidFill>
            <a:srgbClr val="30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658368" y="713232"/>
            <a:ext cx="749808" cy="54864"/>
          </a:xfrm>
          <a:prstGeom prst="rect">
            <a:avLst/>
          </a:prstGeom>
          <a:solidFill>
            <a:srgbClr val="B58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9224" y="1179576"/>
            <a:ext cx="4572000" cy="98755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5000" b="1">
                <a:solidFill>
                  <a:srgbClr val="FFFFFF"/>
                </a:solidFill>
                <a:latin typeface="Georgia"/>
              </a:defRPr>
            </a:pPr>
            <a:r>
              <a:t>VESTIGE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67512" y="2322576"/>
            <a:ext cx="4526280" cy="13258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800" b="1">
                <a:solidFill>
                  <a:srgbClr val="E7CE97"/>
                </a:solidFill>
                <a:latin typeface="Aptos"/>
              </a:defRPr>
            </a:pPr>
            <a:r>
              <a:t>GIVE TECHNOLOGY</a:t>
            </a:r>
            <a:br/>
            <a:r>
              <a:t>A SECOND LIFE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67512" y="4069080"/>
            <a:ext cx="4315968" cy="9144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200" b="0">
                <a:solidFill>
                  <a:srgbClr val="FFFFFF"/>
                </a:solidFill>
                <a:latin typeface="Aptos"/>
              </a:defRPr>
            </a:pPr>
            <a:r>
              <a:t>One connected journey for assessment, repair, recycling and rewards.</a:t>
            </a:r>
          </a:p>
        </p:txBody>
      </p:sp>
      <p:sp>
        <p:nvSpPr>
          <p:cNvPr id="8" name="Rectangle 7"/>
          <p:cNvSpPr/>
          <p:nvPr/>
        </p:nvSpPr>
        <p:spPr>
          <a:xfrm>
            <a:off x="676656" y="5788152"/>
            <a:ext cx="4434840" cy="36576"/>
          </a:xfrm>
          <a:prstGeom prst="rect">
            <a:avLst/>
          </a:prstGeom>
          <a:solidFill>
            <a:srgbClr val="B58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76656" y="5989320"/>
            <a:ext cx="4389120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200" b="1">
                <a:solidFill>
                  <a:srgbClr val="E7CE97"/>
                </a:solidFill>
                <a:latin typeface="Aptos"/>
              </a:defRPr>
            </a:pPr>
            <a:r>
              <a:t>EVALUATION DECK  •  2026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F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58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8580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B58436"/>
                </a:solidFill>
                <a:latin typeface="Aptos"/>
              </a:defRPr>
            </a:pPr>
            <a:r>
              <a:t>01 / THE PROBLEM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900" b="1">
                <a:solidFill>
                  <a:srgbClr val="1F1611"/>
                </a:solidFill>
                <a:latin typeface="Georgia"/>
              </a:defRPr>
            </a:pPr>
            <a:r>
              <a:t>A broken journey for old electronics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09376" cy="10972"/>
          </a:xfrm>
          <a:prstGeom prst="rect">
            <a:avLst/>
          </a:prstGeom>
          <a:solidFill>
            <a:srgbClr val="E7C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6473952"/>
            <a:ext cx="82296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70604A"/>
                </a:solidFill>
                <a:latin typeface="Aptos"/>
              </a:defRPr>
            </a:pPr>
            <a:r>
              <a:t>VESTIGE  /  EVALUATION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6464808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70604A"/>
                </a:solidFill>
                <a:latin typeface="Aptos"/>
              </a:defRPr>
            </a:pPr>
            <a:r>
              <a:t>02</a:t>
            </a:r>
          </a:p>
        </p:txBody>
      </p:sp>
      <p:pic>
        <p:nvPicPr>
          <p:cNvPr id="8" name="Picture 7" descr="vestige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12280" y="1517904"/>
            <a:ext cx="4736592" cy="4489704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40080" y="1545336"/>
            <a:ext cx="5806440" cy="4434840"/>
          </a:xfrm>
          <a:prstGeom prst="roundRect">
            <a:avLst>
              <a:gd name="adj" fmla="val 8000"/>
            </a:avLst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14400" y="1828800"/>
            <a:ext cx="502920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B58436"/>
                </a:solidFill>
                <a:latin typeface="Aptos"/>
              </a:defRPr>
            </a:pPr>
            <a:r>
              <a:t>THE DECISION GAP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2295144"/>
            <a:ext cx="5120640" cy="10789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900" b="1">
                <a:solidFill>
                  <a:srgbClr val="1F1611"/>
                </a:solidFill>
                <a:latin typeface="Georgia"/>
              </a:defRPr>
            </a:pPr>
            <a:r>
              <a:t>Repair, recycle, or leave it unused?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721608"/>
            <a:ext cx="5029200" cy="14173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900" b="0">
                <a:solidFill>
                  <a:srgbClr val="70604A"/>
                </a:solidFill>
                <a:latin typeface="Aptos"/>
              </a:defRPr>
            </a:pPr>
            <a:r>
              <a:t>Owners face uncertain repair value, scattered providers and weak follow up. Vendors receive fragmented requests. Administrators lack a joined view of outcomes.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14400" y="5385816"/>
            <a:ext cx="50749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64B33"/>
                </a:solidFill>
                <a:latin typeface="Aptos"/>
              </a:defRPr>
            </a:pPr>
            <a:r>
              <a:t>VESTIGE connects those steps in one traceable workflow.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F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58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8580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B58436"/>
                </a:solidFill>
                <a:latin typeface="Aptos"/>
              </a:defRPr>
            </a:pPr>
            <a:r>
              <a:t>02 / THE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900" b="1">
                <a:solidFill>
                  <a:srgbClr val="1F1611"/>
                </a:solidFill>
                <a:latin typeface="Georgia"/>
              </a:defRPr>
            </a:pPr>
            <a:r>
              <a:t>A product built around the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09376" cy="10972"/>
          </a:xfrm>
          <a:prstGeom prst="rect">
            <a:avLst/>
          </a:prstGeom>
          <a:solidFill>
            <a:srgbClr val="E7C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6473952"/>
            <a:ext cx="82296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70604A"/>
                </a:solidFill>
                <a:latin typeface="Aptos"/>
              </a:defRPr>
            </a:pPr>
            <a:r>
              <a:t>VESTIGE  /  EVALUATION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6464808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70604A"/>
                </a:solidFill>
                <a:latin typeface="Aptos"/>
              </a:defRPr>
            </a:pPr>
            <a:r>
              <a:t>03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30936" y="1545336"/>
            <a:ext cx="10927080" cy="4581144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4088" y="1618488"/>
            <a:ext cx="10780776" cy="4434840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04088" y="5641847"/>
            <a:ext cx="10780776" cy="411480"/>
          </a:xfrm>
          <a:prstGeom prst="rect">
            <a:avLst/>
          </a:prstGeom>
          <a:solidFill>
            <a:srgbClr val="30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59536" y="5678423"/>
            <a:ext cx="10469880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LIVE CAPTURE  •  VESTIGE LANDING PAGE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F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58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8580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B58436"/>
                </a:solidFill>
                <a:latin typeface="Aptos"/>
              </a:defRPr>
            </a:pPr>
            <a:r>
              <a:t>03 / STAKEHOLDERS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900" b="1">
                <a:solidFill>
                  <a:srgbClr val="1F1611"/>
                </a:solidFill>
                <a:latin typeface="Georgia"/>
              </a:defRPr>
            </a:pPr>
            <a:r>
              <a:t>Three perspectives. One shared record.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09376" cy="10972"/>
          </a:xfrm>
          <a:prstGeom prst="rect">
            <a:avLst/>
          </a:prstGeom>
          <a:solidFill>
            <a:srgbClr val="E7C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6473952"/>
            <a:ext cx="82296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70604A"/>
                </a:solidFill>
                <a:latin typeface="Aptos"/>
              </a:defRPr>
            </a:pPr>
            <a:r>
              <a:t>VESTIGE  /  EVALUATION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6464808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70604A"/>
                </a:solidFill>
                <a:latin typeface="Aptos"/>
              </a:defRPr>
            </a:pPr>
            <a:r>
              <a:t>04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" y="1563624"/>
            <a:ext cx="3575304" cy="4489704"/>
          </a:xfrm>
          <a:prstGeom prst="roundRect">
            <a:avLst>
              <a:gd name="adj" fmla="val 8000"/>
            </a:avLst>
          </a:prstGeom>
          <a:solidFill>
            <a:srgbClr val="FFFBF2"/>
          </a:solidFill>
          <a:ln>
            <a:solidFill>
              <a:srgbClr val="E7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9536" y="1773936"/>
            <a:ext cx="315468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1">
                <a:solidFill>
                  <a:srgbClr val="B58436"/>
                </a:solidFill>
                <a:latin typeface="Aptos"/>
              </a:defRPr>
            </a:pPr>
            <a:r>
              <a:t>OWNER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9536" y="2103120"/>
            <a:ext cx="315468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000" b="1">
                <a:solidFill>
                  <a:srgbClr val="1F1611"/>
                </a:solidFill>
                <a:latin typeface="Georgia"/>
              </a:defRPr>
            </a:pPr>
            <a:r>
              <a:t>Understand the next step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9536" y="2715768"/>
            <a:ext cx="3154680" cy="3154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70604A"/>
                </a:solidFill>
                <a:latin typeface="Aptos"/>
              </a:defRPr>
            </a:pPr>
            <a:r>
              <a:t>Assess the device, book a service, track its progress and view eligible rewards.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15968" y="1563624"/>
            <a:ext cx="3575304" cy="4489704"/>
          </a:xfrm>
          <a:prstGeom prst="roundRect">
            <a:avLst>
              <a:gd name="adj" fmla="val 8000"/>
            </a:avLst>
          </a:prstGeom>
          <a:solidFill>
            <a:srgbClr val="FFFBF2"/>
          </a:solidFill>
          <a:ln>
            <a:solidFill>
              <a:srgbClr val="E7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26280" y="1773936"/>
            <a:ext cx="315468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1">
                <a:solidFill>
                  <a:srgbClr val="B58436"/>
                </a:solidFill>
                <a:latin typeface="Aptos"/>
              </a:defRPr>
            </a:pPr>
            <a:r>
              <a:t>VENDOR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2103120"/>
            <a:ext cx="315468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000" b="1">
                <a:solidFill>
                  <a:srgbClr val="1F1611"/>
                </a:solidFill>
                <a:latin typeface="Georgia"/>
              </a:defRPr>
            </a:pPr>
            <a:r>
              <a:t>Manage assigned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26280" y="2715768"/>
            <a:ext cx="3154680" cy="3154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70604A"/>
                </a:solidFill>
                <a:latin typeface="Aptos"/>
              </a:defRPr>
            </a:pPr>
            <a:r>
              <a:t>See structured intake details and update repair or recycling request status.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82712" y="1563624"/>
            <a:ext cx="3575304" cy="4489704"/>
          </a:xfrm>
          <a:prstGeom prst="roundRect">
            <a:avLst>
              <a:gd name="adj" fmla="val 8000"/>
            </a:avLst>
          </a:prstGeom>
          <a:solidFill>
            <a:srgbClr val="FFFBF2"/>
          </a:solidFill>
          <a:ln>
            <a:solidFill>
              <a:srgbClr val="E7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193024" y="1773936"/>
            <a:ext cx="3154680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1">
                <a:solidFill>
                  <a:srgbClr val="B58436"/>
                </a:solidFill>
                <a:latin typeface="Aptos"/>
              </a:defRPr>
            </a:pPr>
            <a:r>
              <a:t>ADMINISTRATOR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193024" y="2103120"/>
            <a:ext cx="315468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000" b="1">
                <a:solidFill>
                  <a:srgbClr val="1F1611"/>
                </a:solidFill>
                <a:latin typeface="Georgia"/>
              </a:defRPr>
            </a:pPr>
            <a:r>
              <a:t>Oversee the 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193024" y="2715768"/>
            <a:ext cx="3154680" cy="3154680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70604A"/>
                </a:solidFill>
                <a:latin typeface="Aptos"/>
              </a:defRPr>
            </a:pPr>
            <a:r>
              <a:t>Review users, vendors, bookings, payments, rewards and platform activity.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F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58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8580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B58436"/>
                </a:solidFill>
                <a:latin typeface="Aptos"/>
              </a:defRPr>
            </a:pPr>
            <a:r>
              <a:t>04 / OWNER EXPERIENCE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900" b="1">
                <a:solidFill>
                  <a:srgbClr val="1F1611"/>
                </a:solidFill>
                <a:latin typeface="Georgia"/>
              </a:defRPr>
            </a:pPr>
            <a:r>
              <a:t>Owner portal: the circular journey starts here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09376" cy="10972"/>
          </a:xfrm>
          <a:prstGeom prst="rect">
            <a:avLst/>
          </a:prstGeom>
          <a:solidFill>
            <a:srgbClr val="E7C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6473952"/>
            <a:ext cx="82296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70604A"/>
                </a:solidFill>
                <a:latin typeface="Aptos"/>
              </a:defRPr>
            </a:pPr>
            <a:r>
              <a:t>VESTIGE  /  EVALUATION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6464808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70604A"/>
                </a:solidFill>
                <a:latin typeface="Aptos"/>
              </a:defRPr>
            </a:pPr>
            <a:r>
              <a:t>05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527048"/>
            <a:ext cx="7964424" cy="4599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use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7818120" cy="445312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85800" y="5641848"/>
            <a:ext cx="7818120" cy="411480"/>
          </a:xfrm>
          <a:prstGeom prst="rect">
            <a:avLst/>
          </a:prstGeom>
          <a:solidFill>
            <a:srgbClr val="30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5678424"/>
            <a:ext cx="7507224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LIVE CAPTURE  •  USER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59952" y="1600200"/>
            <a:ext cx="2761488" cy="4453128"/>
          </a:xfrm>
          <a:prstGeom prst="roundRect">
            <a:avLst>
              <a:gd name="adj" fmla="val 8000"/>
            </a:avLst>
          </a:prstGeom>
          <a:solidFill>
            <a:srgbClr val="30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938528"/>
            <a:ext cx="109728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900" b="1">
                <a:solidFill>
                  <a:srgbClr val="E7CE97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3416" y="2651760"/>
            <a:ext cx="2194560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t>One entry point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3416" y="3657600"/>
            <a:ext cx="2176272" cy="148132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The dashboard connects diagnostics, collection, bookings and rewards.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F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58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8580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B58436"/>
                </a:solidFill>
                <a:latin typeface="Aptos"/>
              </a:defRPr>
            </a:pPr>
            <a:r>
              <a:t>05 / DECISION SUPPORT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900" b="1">
                <a:solidFill>
                  <a:srgbClr val="1F1611"/>
                </a:solidFill>
                <a:latin typeface="Georgia"/>
              </a:defRPr>
            </a:pPr>
            <a:r>
              <a:t>Transparent, rules based assessment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09376" cy="10972"/>
          </a:xfrm>
          <a:prstGeom prst="rect">
            <a:avLst/>
          </a:prstGeom>
          <a:solidFill>
            <a:srgbClr val="E7C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6473952"/>
            <a:ext cx="82296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70604A"/>
                </a:solidFill>
                <a:latin typeface="Aptos"/>
              </a:defRPr>
            </a:pPr>
            <a:r>
              <a:t>VESTIGE  /  EVALUATION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6464808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70604A"/>
                </a:solidFill>
                <a:latin typeface="Aptos"/>
              </a:defRPr>
            </a:pPr>
            <a:r>
              <a:t>06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306824" y="1490472"/>
            <a:ext cx="7296912" cy="464515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ssessm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379976" y="1563624"/>
            <a:ext cx="7150608" cy="449884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4379976" y="5650992"/>
            <a:ext cx="7150608" cy="411480"/>
          </a:xfrm>
          <a:prstGeom prst="rect">
            <a:avLst/>
          </a:prstGeom>
          <a:solidFill>
            <a:srgbClr val="30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35424" y="5687568"/>
            <a:ext cx="6839712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LIVE CAPTURE  •  DEVICE ASSESSMENT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49224" y="1563624"/>
            <a:ext cx="3456432" cy="4498848"/>
          </a:xfrm>
          <a:prstGeom prst="roundRect">
            <a:avLst>
              <a:gd name="adj" fmla="val 8000"/>
            </a:avLst>
          </a:prstGeom>
          <a:solidFill>
            <a:srgbClr val="164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14400" y="1911095"/>
            <a:ext cx="2926080" cy="329184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E7CE97"/>
                </a:solidFill>
                <a:latin typeface="Aptos"/>
              </a:defRPr>
            </a:pPr>
            <a:r>
              <a:t>INPUTS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2432304"/>
            <a:ext cx="2852928" cy="23317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000" b="0">
                <a:solidFill>
                  <a:srgbClr val="FFFFFF"/>
                </a:solidFill>
                <a:latin typeface="Aptos"/>
              </a:defRPr>
            </a:pPr>
            <a:r>
              <a:t>Age</a:t>
            </a:r>
            <a:br/>
            <a:r>
              <a:t>Condition</a:t>
            </a:r>
            <a:br/>
            <a:r>
              <a:t>Repair cost / value</a:t>
            </a:r>
            <a:br/>
            <a:r>
              <a:t>Parts availability</a:t>
            </a:r>
            <a:br/>
            <a:r>
              <a:t>Known faults</a:t>
            </a:r>
          </a:p>
        </p:txBody>
      </p:sp>
      <p:sp>
        <p:nvSpPr>
          <p:cNvPr id="15" name="Rectangle 14"/>
          <p:cNvSpPr/>
          <p:nvPr/>
        </p:nvSpPr>
        <p:spPr>
          <a:xfrm>
            <a:off x="914400" y="5102352"/>
            <a:ext cx="2651760" cy="18288"/>
          </a:xfrm>
          <a:prstGeom prst="rect">
            <a:avLst/>
          </a:prstGeom>
          <a:solidFill>
            <a:srgbClr val="E7C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14400" y="5285232"/>
            <a:ext cx="2816352" cy="43891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500" b="1">
                <a:solidFill>
                  <a:srgbClr val="FFFFFF"/>
                </a:solidFill>
                <a:latin typeface="Aptos"/>
              </a:defRPr>
            </a:pPr>
            <a:r>
              <a:t>Score 5–95  ·  Repair at ≥50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F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58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8580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B58436"/>
                </a:solidFill>
                <a:latin typeface="Aptos"/>
              </a:defRPr>
            </a:pPr>
            <a:r>
              <a:t>06 / WORKFLOW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900" b="1">
                <a:solidFill>
                  <a:srgbClr val="1F1611"/>
                </a:solidFill>
                <a:latin typeface="Georgia"/>
              </a:defRPr>
            </a:pPr>
            <a:r>
              <a:t>From assessment to a recorded outcome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09376" cy="10972"/>
          </a:xfrm>
          <a:prstGeom prst="rect">
            <a:avLst/>
          </a:prstGeom>
          <a:solidFill>
            <a:srgbClr val="E7C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6473952"/>
            <a:ext cx="82296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70604A"/>
                </a:solidFill>
                <a:latin typeface="Aptos"/>
              </a:defRPr>
            </a:pPr>
            <a:r>
              <a:t>VESTIGE  /  EVALUATION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6464808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70604A"/>
                </a:solidFill>
                <a:latin typeface="Aptos"/>
              </a:defRPr>
            </a:pPr>
            <a:r>
              <a:t>07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9224" y="1874519"/>
            <a:ext cx="2670048" cy="3319272"/>
          </a:xfrm>
          <a:prstGeom prst="roundRect">
            <a:avLst>
              <a:gd name="adj" fmla="val 8000"/>
            </a:avLst>
          </a:prstGeom>
          <a:solidFill>
            <a:srgbClr val="FFFBF2"/>
          </a:solidFill>
          <a:ln>
            <a:solidFill>
              <a:srgbClr val="B5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2103120"/>
            <a:ext cx="10058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3000" b="1">
                <a:solidFill>
                  <a:srgbClr val="B58436"/>
                </a:solidFill>
                <a:latin typeface="Georgia"/>
              </a:defRPr>
            </a:pPr>
            <a:r>
              <a:t>01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50392" y="2926080"/>
            <a:ext cx="226771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800" b="1">
                <a:solidFill>
                  <a:srgbClr val="1F1611"/>
                </a:solidFill>
                <a:latin typeface="Aptos"/>
              </a:defRPr>
            </a:pPr>
            <a:r>
              <a:t>ASSESS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50392" y="3575304"/>
            <a:ext cx="2194560" cy="10972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0">
                <a:solidFill>
                  <a:srgbClr val="70604A"/>
                </a:solidFill>
                <a:latin typeface="Aptos"/>
              </a:defRPr>
            </a:pPr>
            <a:r>
              <a:t>Enter details and receive a reasoned suggestion.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557016" y="1874519"/>
            <a:ext cx="2670048" cy="3319272"/>
          </a:xfrm>
          <a:prstGeom prst="roundRect">
            <a:avLst>
              <a:gd name="adj" fmla="val 8000"/>
            </a:avLst>
          </a:prstGeom>
          <a:solidFill>
            <a:srgbClr val="FFFBF2"/>
          </a:solidFill>
          <a:ln>
            <a:solidFill>
              <a:srgbClr val="B5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758184" y="2103120"/>
            <a:ext cx="10058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3000" b="1">
                <a:solidFill>
                  <a:srgbClr val="B58436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758184" y="2926080"/>
            <a:ext cx="226771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800" b="1">
                <a:solidFill>
                  <a:srgbClr val="1F1611"/>
                </a:solidFill>
                <a:latin typeface="Aptos"/>
              </a:defRPr>
            </a:pPr>
            <a:r>
              <a:t>SUBMIT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758184" y="3575304"/>
            <a:ext cx="2194560" cy="10972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0">
                <a:solidFill>
                  <a:srgbClr val="70604A"/>
                </a:solidFill>
                <a:latin typeface="Aptos"/>
              </a:defRPr>
            </a:pPr>
            <a:r>
              <a:t>Save the device and request repair or recycling.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6464808" y="1874519"/>
            <a:ext cx="2670048" cy="3319272"/>
          </a:xfrm>
          <a:prstGeom prst="roundRect">
            <a:avLst>
              <a:gd name="adj" fmla="val 8000"/>
            </a:avLst>
          </a:prstGeom>
          <a:solidFill>
            <a:srgbClr val="FFFBF2"/>
          </a:solidFill>
          <a:ln>
            <a:solidFill>
              <a:srgbClr val="B5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665976" y="2103120"/>
            <a:ext cx="10058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3000" b="1">
                <a:solidFill>
                  <a:srgbClr val="B58436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665976" y="2926080"/>
            <a:ext cx="226771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800" b="1">
                <a:solidFill>
                  <a:srgbClr val="1F1611"/>
                </a:solidFill>
                <a:latin typeface="Aptos"/>
              </a:defRPr>
            </a:pPr>
            <a:r>
              <a:t>PROCESS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65976" y="3575304"/>
            <a:ext cx="2194560" cy="10972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0">
                <a:solidFill>
                  <a:srgbClr val="70604A"/>
                </a:solidFill>
                <a:latin typeface="Aptos"/>
              </a:defRPr>
            </a:pPr>
            <a:r>
              <a:t>Vendor manages the assigned request and status.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1874519"/>
            <a:ext cx="2670048" cy="3319272"/>
          </a:xfrm>
          <a:prstGeom prst="roundRect">
            <a:avLst>
              <a:gd name="adj" fmla="val 8000"/>
            </a:avLst>
          </a:prstGeom>
          <a:solidFill>
            <a:srgbClr val="301D13"/>
          </a:solidFill>
          <a:ln>
            <a:solidFill>
              <a:srgbClr val="B5843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573768" y="2103120"/>
            <a:ext cx="100584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3000" b="1">
                <a:solidFill>
                  <a:srgbClr val="E7CE97"/>
                </a:solidFill>
                <a:latin typeface="Georgia"/>
              </a:defRPr>
            </a:pPr>
            <a:r>
              <a:t>04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573768" y="2926080"/>
            <a:ext cx="2267712" cy="44805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800" b="1">
                <a:solidFill>
                  <a:srgbClr val="FFFFFF"/>
                </a:solidFill>
                <a:latin typeface="Aptos"/>
              </a:defRPr>
            </a:pPr>
            <a:r>
              <a:t>REWARD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9573768" y="3575304"/>
            <a:ext cx="2194560" cy="10972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0">
                <a:solidFill>
                  <a:srgbClr val="FFFFFF"/>
                </a:solidFill>
                <a:latin typeface="Aptos"/>
              </a:defRPr>
            </a:pPr>
            <a:r>
              <a:t>Owner sees applicable points and history.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9808" y="5623560"/>
            <a:ext cx="10789920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64B33"/>
                </a:solidFill>
                <a:latin typeface="Aptos"/>
              </a:defRPr>
            </a:pPr>
            <a:r>
              <a:t>Recommendation = decision support. A technician must confirm the actual service route.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F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58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8580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B58436"/>
                </a:solidFill>
                <a:latin typeface="Aptos"/>
              </a:defRPr>
            </a:pPr>
            <a:r>
              <a:t>07 / SERVICE OPERATIONS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900" b="1">
                <a:solidFill>
                  <a:srgbClr val="1F1611"/>
                </a:solidFill>
                <a:latin typeface="Georgia"/>
              </a:defRPr>
            </a:pPr>
            <a:r>
              <a:t>Vendor portal: work stays visible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09376" cy="10972"/>
          </a:xfrm>
          <a:prstGeom prst="rect">
            <a:avLst/>
          </a:prstGeom>
          <a:solidFill>
            <a:srgbClr val="E7C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6473952"/>
            <a:ext cx="82296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70604A"/>
                </a:solidFill>
                <a:latin typeface="Aptos"/>
              </a:defRPr>
            </a:pPr>
            <a:r>
              <a:t>VESTIGE  /  EVALUATION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6464808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70604A"/>
                </a:solidFill>
                <a:latin typeface="Aptos"/>
              </a:defRPr>
            </a:pPr>
            <a:r>
              <a:t>08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527048"/>
            <a:ext cx="7964424" cy="4599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vendor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7818120" cy="445312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85800" y="5641848"/>
            <a:ext cx="7818120" cy="411480"/>
          </a:xfrm>
          <a:prstGeom prst="rect">
            <a:avLst/>
          </a:prstGeom>
          <a:solidFill>
            <a:srgbClr val="30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5678424"/>
            <a:ext cx="7507224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LIVE CAPTURE  •  VENDOR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59952" y="1600200"/>
            <a:ext cx="2761488" cy="4453128"/>
          </a:xfrm>
          <a:prstGeom prst="roundRect">
            <a:avLst>
              <a:gd name="adj" fmla="val 8000"/>
            </a:avLst>
          </a:prstGeom>
          <a:solidFill>
            <a:srgbClr val="164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938528"/>
            <a:ext cx="109728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900" b="1">
                <a:solidFill>
                  <a:srgbClr val="E7CE97"/>
                </a:solidFill>
                <a:latin typeface="Georgia"/>
              </a:defRPr>
            </a:pPr>
            <a: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3416" y="2651760"/>
            <a:ext cx="2194560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t>Assigned work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3416" y="3657600"/>
            <a:ext cx="2176272" cy="1536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Repair and recycling requests appear with customer details, status and next actions.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F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58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8580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B58436"/>
                </a:solidFill>
                <a:latin typeface="Aptos"/>
              </a:defRPr>
            </a:pPr>
            <a:r>
              <a:t>08 / GOVERNANCE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900" b="1">
                <a:solidFill>
                  <a:srgbClr val="1F1611"/>
                </a:solidFill>
                <a:latin typeface="Georgia"/>
              </a:defRPr>
            </a:pPr>
            <a:r>
              <a:t>Administrator portal: operational oversight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09376" cy="10972"/>
          </a:xfrm>
          <a:prstGeom prst="rect">
            <a:avLst/>
          </a:prstGeom>
          <a:solidFill>
            <a:srgbClr val="E7C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6473952"/>
            <a:ext cx="82296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70604A"/>
                </a:solidFill>
                <a:latin typeface="Aptos"/>
              </a:defRPr>
            </a:pPr>
            <a:r>
              <a:t>VESTIGE  /  EVALUATION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6464808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70604A"/>
                </a:solidFill>
                <a:latin typeface="Aptos"/>
              </a:defRPr>
            </a:pPr>
            <a:r>
              <a:t>09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2648" y="1527048"/>
            <a:ext cx="7964424" cy="4599432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admin_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" y="1600200"/>
            <a:ext cx="7818120" cy="4453128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685800" y="5641848"/>
            <a:ext cx="7818120" cy="411480"/>
          </a:xfrm>
          <a:prstGeom prst="rect">
            <a:avLst/>
          </a:prstGeom>
          <a:solidFill>
            <a:srgbClr val="30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41248" y="5678424"/>
            <a:ext cx="7507224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LIVE CAPTURE  •  ADMIN DASHBOARD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759952" y="1600200"/>
            <a:ext cx="2761488" cy="4453128"/>
          </a:xfrm>
          <a:prstGeom prst="roundRect">
            <a:avLst>
              <a:gd name="adj" fmla="val 8000"/>
            </a:avLst>
          </a:prstGeom>
          <a:solidFill>
            <a:srgbClr val="30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9043416" y="1938528"/>
            <a:ext cx="1097280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900" b="1">
                <a:solidFill>
                  <a:srgbClr val="E7CE97"/>
                </a:solidFill>
                <a:latin typeface="Georgia"/>
              </a:defRPr>
            </a:pPr>
            <a: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043416" y="2651760"/>
            <a:ext cx="2194560" cy="7772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400" b="1">
                <a:solidFill>
                  <a:srgbClr val="FFFFFF"/>
                </a:solidFill>
                <a:latin typeface="Georgia"/>
              </a:defRPr>
            </a:pPr>
            <a:r>
              <a:t>Joined view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043416" y="3657600"/>
            <a:ext cx="2176272" cy="1536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User, vendor, request, reward and payment records support review and follow up.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F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58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8580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B58436"/>
                </a:solidFill>
                <a:latin typeface="Aptos"/>
              </a:defRPr>
            </a:pPr>
            <a:r>
              <a:t>09 /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900" b="1">
                <a:solidFill>
                  <a:srgbClr val="1F1611"/>
                </a:solidFill>
                <a:latin typeface="Georgia"/>
              </a:defRPr>
            </a:pPr>
            <a:r>
              <a:t>The system behind the experience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09376" cy="10972"/>
          </a:xfrm>
          <a:prstGeom prst="rect">
            <a:avLst/>
          </a:prstGeom>
          <a:solidFill>
            <a:srgbClr val="E7C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6473952"/>
            <a:ext cx="82296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70604A"/>
                </a:solidFill>
                <a:latin typeface="Aptos"/>
              </a:defRPr>
            </a:pPr>
            <a:r>
              <a:t>VESTIGE  /  EVALUATION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6464808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70604A"/>
                </a:solidFill>
                <a:latin typeface="Aptos"/>
              </a:defRPr>
            </a:pPr>
            <a:r>
              <a:t>10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1810512"/>
            <a:ext cx="3246120" cy="1965960"/>
          </a:xfrm>
          <a:prstGeom prst="roundRect">
            <a:avLst>
              <a:gd name="adj" fmla="val 8000"/>
            </a:avLst>
          </a:prstGeom>
          <a:solidFill>
            <a:srgbClr val="30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41832" y="2103120"/>
            <a:ext cx="27889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400" b="1">
                <a:solidFill>
                  <a:srgbClr val="E7CE97"/>
                </a:solidFill>
                <a:latin typeface="Aptos"/>
              </a:defRPr>
            </a:pPr>
            <a:r>
              <a:t>WEB EXPERIENCE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41832" y="2606040"/>
            <a:ext cx="2779776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React 19  •  Vite 8  •  role based routes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489704" y="1810512"/>
            <a:ext cx="3246120" cy="1965960"/>
          </a:xfrm>
          <a:prstGeom prst="roundRect">
            <a:avLst>
              <a:gd name="adj" fmla="val 8000"/>
            </a:avLst>
          </a:prstGeom>
          <a:solidFill>
            <a:srgbClr val="164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709160" y="2103120"/>
            <a:ext cx="27889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400" b="1">
                <a:solidFill>
                  <a:srgbClr val="E7CE97"/>
                </a:solidFill>
                <a:latin typeface="Aptos"/>
              </a:defRPr>
            </a:pPr>
            <a:r>
              <a:t>APPLICATION API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09160" y="2606040"/>
            <a:ext cx="2779776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Java 21  •  Spring Boot 3.4.3  •  JWT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257031" y="1810512"/>
            <a:ext cx="3246120" cy="1965960"/>
          </a:xfrm>
          <a:prstGeom prst="roundRect">
            <a:avLst>
              <a:gd name="adj" fmla="val 8000"/>
            </a:avLst>
          </a:prstGeom>
          <a:solidFill>
            <a:srgbClr val="30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476488" y="2103120"/>
            <a:ext cx="2788920" cy="34747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400" b="1">
                <a:solidFill>
                  <a:srgbClr val="E7CE97"/>
                </a:solidFill>
                <a:latin typeface="Aptos"/>
              </a:defRPr>
            </a:pPr>
            <a:r>
              <a:t>DATA + SERVICES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76488" y="2606040"/>
            <a:ext cx="2779776" cy="82296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800" b="0">
                <a:solidFill>
                  <a:srgbClr val="FFFFFF"/>
                </a:solidFill>
                <a:latin typeface="Aptos"/>
              </a:defRPr>
            </a:pPr>
            <a:r>
              <a:t>H2 demo  •  PostgreSQL schema  •  Razorpay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059936" y="2459736"/>
            <a:ext cx="374904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3100" b="1">
                <a:solidFill>
                  <a:srgbClr val="B5843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827264" y="2459736"/>
            <a:ext cx="374904" cy="5486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3100" b="1">
                <a:solidFill>
                  <a:srgbClr val="B58436"/>
                </a:solidFill>
                <a:latin typeface="Aptos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" y="4160520"/>
            <a:ext cx="10780776" cy="1417320"/>
          </a:xfrm>
          <a:prstGeom prst="roundRect">
            <a:avLst>
              <a:gd name="adj" fmla="val 8000"/>
            </a:avLst>
          </a:prstGeom>
          <a:solidFill>
            <a:srgbClr val="FFFBF2"/>
          </a:solidFill>
          <a:ln>
            <a:solidFill>
              <a:srgbClr val="E7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1033271" y="4416552"/>
            <a:ext cx="3218688" cy="31089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500" b="1">
                <a:solidFill>
                  <a:srgbClr val="B58436"/>
                </a:solidFill>
                <a:latin typeface="Aptos"/>
              </a:defRPr>
            </a:pPr>
            <a:r>
              <a:t>SECURITY + TRACEABILITY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33271" y="4828032"/>
            <a:ext cx="10094976" cy="4572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900" b="0">
                <a:solidFill>
                  <a:srgbClr val="1F1611"/>
                </a:solidFill>
                <a:latin typeface="Aptos"/>
              </a:defRPr>
            </a:pPr>
            <a:r>
              <a:t>Signed tokens, role and ownership checks, persisted request status and administrative audit actions.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F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58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8580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B58436"/>
                </a:solidFill>
                <a:latin typeface="Aptos"/>
              </a:defRPr>
            </a:pPr>
            <a:r>
              <a:t>10 /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900" b="1">
                <a:solidFill>
                  <a:srgbClr val="1F1611"/>
                </a:solidFill>
                <a:latin typeface="Georgia"/>
              </a:defRPr>
            </a:pPr>
            <a:r>
              <a:t>What is verified in the local build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09376" cy="10972"/>
          </a:xfrm>
          <a:prstGeom prst="rect">
            <a:avLst/>
          </a:prstGeom>
          <a:solidFill>
            <a:srgbClr val="E7C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6473952"/>
            <a:ext cx="82296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70604A"/>
                </a:solidFill>
                <a:latin typeface="Aptos"/>
              </a:defRPr>
            </a:pPr>
            <a:r>
              <a:t>VESTIGE  /  EVALUATION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6464808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70604A"/>
                </a:solidFill>
                <a:latin typeface="Aptos"/>
              </a:defRPr>
            </a:pPr>
            <a:r>
              <a:t>11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40080" y="1545336"/>
            <a:ext cx="5266944" cy="34655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land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13232" y="1618488"/>
            <a:ext cx="5120640" cy="3319272"/>
          </a:xfrm>
          <a:prstGeom prst="rect">
            <a:avLst/>
          </a:prstGeom>
        </p:spPr>
      </p:pic>
      <p:sp>
        <p:nvSpPr>
          <p:cNvPr id="10" name="Rectangle 9"/>
          <p:cNvSpPr/>
          <p:nvPr/>
        </p:nvSpPr>
        <p:spPr>
          <a:xfrm>
            <a:off x="713232" y="4526280"/>
            <a:ext cx="5120640" cy="411480"/>
          </a:xfrm>
          <a:prstGeom prst="rect">
            <a:avLst/>
          </a:prstGeom>
          <a:solidFill>
            <a:srgbClr val="30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68680" y="4562856"/>
            <a:ext cx="4809744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LIVE LANDING PAGE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53328" y="1545336"/>
            <a:ext cx="5504688" cy="3465576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>
            <a:solidFill>
              <a:srgbClr val="E7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13" name="Picture 12" descr="assessment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126480" y="1618488"/>
            <a:ext cx="5358384" cy="3319272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6126480" y="4526280"/>
            <a:ext cx="5358384" cy="411480"/>
          </a:xfrm>
          <a:prstGeom prst="rect">
            <a:avLst/>
          </a:prstGeom>
          <a:solidFill>
            <a:srgbClr val="30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281928" y="4562856"/>
            <a:ext cx="5047488" cy="32004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LIVE ASSESSMENT FORM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39512"/>
            <a:ext cx="10771632" cy="704088"/>
          </a:xfrm>
          <a:prstGeom prst="roundRect">
            <a:avLst>
              <a:gd name="adj" fmla="val 8000"/>
            </a:avLst>
          </a:prstGeom>
          <a:solidFill>
            <a:srgbClr val="164B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87552" y="5367528"/>
            <a:ext cx="10241280" cy="39319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ctr">
              <a:defRPr sz="2000" b="1">
                <a:solidFill>
                  <a:srgbClr val="FFFFFF"/>
                </a:solidFill>
                <a:latin typeface="Aptos"/>
              </a:defRPr>
            </a:pPr>
            <a:r>
              <a:t>57 backend tests passed   •   frontend build passed   •   lint exited successfully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F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58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8580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B58436"/>
                </a:solidFill>
                <a:latin typeface="Aptos"/>
              </a:defRPr>
            </a:pPr>
            <a:r>
              <a:t>11 / READINESS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900" b="1">
                <a:solidFill>
                  <a:srgbClr val="1F1611"/>
                </a:solidFill>
                <a:latin typeface="Georgia"/>
              </a:defRPr>
            </a:pPr>
            <a:r>
              <a:t>Honest boundaries of the prototype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09376" cy="10972"/>
          </a:xfrm>
          <a:prstGeom prst="rect">
            <a:avLst/>
          </a:prstGeom>
          <a:solidFill>
            <a:srgbClr val="E7C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6473952"/>
            <a:ext cx="82296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70604A"/>
                </a:solidFill>
                <a:latin typeface="Aptos"/>
              </a:defRPr>
            </a:pPr>
            <a:r>
              <a:t>VESTIGE  /  EVALUATION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6464808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70604A"/>
                </a:solidFill>
                <a:latin typeface="Aptos"/>
              </a:defRPr>
            </a:pPr>
            <a:r>
              <a:t>12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22376" y="1627632"/>
            <a:ext cx="10771632" cy="877824"/>
          </a:xfrm>
          <a:prstGeom prst="roundRect">
            <a:avLst>
              <a:gd name="adj" fmla="val 8000"/>
            </a:avLst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69264" y="1783080"/>
            <a:ext cx="278892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64B33"/>
                </a:solidFill>
                <a:latin typeface="Aptos"/>
              </a:defRPr>
            </a:pPr>
            <a:r>
              <a:t>LIVE PAYMENTS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685032" y="1783080"/>
            <a:ext cx="7443216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700" b="0">
                <a:solidFill>
                  <a:srgbClr val="1F1611"/>
                </a:solidFill>
                <a:latin typeface="Aptos"/>
              </a:defRPr>
            </a:pPr>
            <a:r>
              <a:t>Gateway credentials and a real checkout verification are pending.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22376" y="2697480"/>
            <a:ext cx="10771632" cy="877824"/>
          </a:xfrm>
          <a:prstGeom prst="roundRect">
            <a:avLst>
              <a:gd name="adj" fmla="val 8000"/>
            </a:avLst>
          </a:prstGeom>
          <a:solidFill>
            <a:srgbClr val="F1E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969264" y="2852928"/>
            <a:ext cx="278892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64B33"/>
                </a:solidFill>
                <a:latin typeface="Aptos"/>
              </a:defRPr>
            </a:pPr>
            <a:r>
              <a:t>PRODUCTION DATA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85032" y="2852928"/>
            <a:ext cx="7443216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700" b="0">
                <a:solidFill>
                  <a:srgbClr val="1F1611"/>
                </a:solidFill>
                <a:latin typeface="Aptos"/>
              </a:defRPr>
            </a:pPr>
            <a:r>
              <a:t>PostgreSQL migrations and deployed services need target environment checks.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22376" y="3767328"/>
            <a:ext cx="10771632" cy="877824"/>
          </a:xfrm>
          <a:prstGeom prst="roundRect">
            <a:avLst>
              <a:gd name="adj" fmla="val 8000"/>
            </a:avLst>
          </a:prstGeom>
          <a:solidFill>
            <a:srgbClr val="FFFB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969264" y="3922776"/>
            <a:ext cx="278892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64B33"/>
                </a:solidFill>
                <a:latin typeface="Aptos"/>
              </a:defRPr>
            </a:pPr>
            <a:r>
              <a:t>IMPACT ESTIMATES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685032" y="3922776"/>
            <a:ext cx="7443216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700" b="0">
                <a:solidFill>
                  <a:srgbClr val="1F1611"/>
                </a:solidFill>
                <a:latin typeface="Aptos"/>
              </a:defRPr>
            </a:pPr>
            <a:r>
              <a:t>Device mass and CO₂e values are assumptions, not measured results.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22376" y="4837176"/>
            <a:ext cx="10771632" cy="877824"/>
          </a:xfrm>
          <a:prstGeom prst="roundRect">
            <a:avLst>
              <a:gd name="adj" fmla="val 8000"/>
            </a:avLst>
          </a:prstGeom>
          <a:solidFill>
            <a:srgbClr val="F1E3C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969264" y="4992624"/>
            <a:ext cx="2788920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164B33"/>
                </a:solidFill>
                <a:latin typeface="Aptos"/>
              </a:defRPr>
            </a:pPr>
            <a:r>
              <a:t>FIELD OPERATIONS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85032" y="4992624"/>
            <a:ext cx="7443216" cy="521207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700" b="0">
                <a:solidFill>
                  <a:srgbClr val="1F1611"/>
                </a:solidFill>
                <a:latin typeface="Aptos"/>
              </a:defRPr>
            </a:pPr>
            <a:r>
              <a:t>Vendor qualification, pickup and recycling proof need real processes.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7EFD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"/>
          </a:xfrm>
          <a:prstGeom prst="rect">
            <a:avLst/>
          </a:prstGeom>
          <a:solidFill>
            <a:srgbClr val="B58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66928" y="310896"/>
            <a:ext cx="6858000" cy="256032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100" b="1">
                <a:solidFill>
                  <a:srgbClr val="B58436"/>
                </a:solidFill>
                <a:latin typeface="Aptos"/>
              </a:defRPr>
            </a:pPr>
            <a:r>
              <a:t>12 / ROADMAP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66928" y="685800"/>
            <a:ext cx="10972800" cy="6583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900" b="1">
                <a:solidFill>
                  <a:srgbClr val="1F1611"/>
                </a:solidFill>
                <a:latin typeface="Georgia"/>
              </a:defRPr>
            </a:pPr>
            <a:r>
              <a:t>The next step: validate with real outcomes</a:t>
            </a:r>
          </a:p>
        </p:txBody>
      </p:sp>
      <p:sp>
        <p:nvSpPr>
          <p:cNvPr id="5" name="Rectangle 4"/>
          <p:cNvSpPr/>
          <p:nvPr/>
        </p:nvSpPr>
        <p:spPr>
          <a:xfrm>
            <a:off x="566928" y="6419088"/>
            <a:ext cx="11009376" cy="10972"/>
          </a:xfrm>
          <a:prstGeom prst="rect">
            <a:avLst/>
          </a:prstGeom>
          <a:solidFill>
            <a:srgbClr val="E7CE9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76072" y="6473952"/>
            <a:ext cx="8229600" cy="173736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900" b="1">
                <a:solidFill>
                  <a:srgbClr val="70604A"/>
                </a:solidFill>
                <a:latin typeface="Aptos"/>
              </a:defRPr>
            </a:pPr>
            <a:r>
              <a:t>VESTIGE  /  EVALUATION PRESENTATION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19104" y="6464808"/>
            <a:ext cx="411480" cy="20116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r">
              <a:defRPr sz="1000" b="1">
                <a:solidFill>
                  <a:srgbClr val="70604A"/>
                </a:solidFill>
                <a:latin typeface="Aptos"/>
              </a:defRPr>
            </a:pPr>
            <a:r>
              <a:t>13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664208"/>
            <a:ext cx="3547872" cy="4233672"/>
          </a:xfrm>
          <a:prstGeom prst="roundRect">
            <a:avLst>
              <a:gd name="adj" fmla="val 8000"/>
            </a:avLst>
          </a:prstGeom>
          <a:solidFill>
            <a:srgbClr val="FFFBF2"/>
          </a:solidFill>
          <a:ln>
            <a:solidFill>
              <a:srgbClr val="E7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68680" y="1874520"/>
            <a:ext cx="312724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1">
                <a:solidFill>
                  <a:srgbClr val="B58436"/>
                </a:solidFill>
                <a:latin typeface="Aptos"/>
              </a:defRPr>
            </a:pPr>
            <a:r>
              <a:t>01 / PILOT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8680" y="2203704"/>
            <a:ext cx="3127248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000" b="1">
                <a:solidFill>
                  <a:srgbClr val="1F1611"/>
                </a:solidFill>
                <a:latin typeface="Georgia"/>
              </a:defRPr>
            </a:pPr>
            <a:r>
              <a:t>Observe real jobs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2816352"/>
            <a:ext cx="3127248" cy="28986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70604A"/>
                </a:solidFill>
                <a:latin typeface="Aptos"/>
              </a:defRPr>
            </a:pPr>
            <a:r>
              <a:t>Test intake and status tracking with repair and recycling partners.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4325112" y="1664208"/>
            <a:ext cx="3547872" cy="4233672"/>
          </a:xfrm>
          <a:prstGeom prst="roundRect">
            <a:avLst>
              <a:gd name="adj" fmla="val 8000"/>
            </a:avLst>
          </a:prstGeom>
          <a:solidFill>
            <a:srgbClr val="FFFBF2"/>
          </a:solidFill>
          <a:ln>
            <a:solidFill>
              <a:srgbClr val="E7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4535424" y="1874520"/>
            <a:ext cx="312724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1">
                <a:solidFill>
                  <a:srgbClr val="B58436"/>
                </a:solidFill>
                <a:latin typeface="Aptos"/>
              </a:defRPr>
            </a:pPr>
            <a:r>
              <a:t>02 / CALIBRATE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35424" y="2203704"/>
            <a:ext cx="3127248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000" b="1">
                <a:solidFill>
                  <a:srgbClr val="1F1611"/>
                </a:solidFill>
                <a:latin typeface="Georgia"/>
              </a:defRPr>
            </a:pPr>
            <a:r>
              <a:t>Improve the rules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35424" y="2816352"/>
            <a:ext cx="3127248" cy="28986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70604A"/>
                </a:solidFill>
                <a:latin typeface="Aptos"/>
              </a:defRPr>
            </a:pPr>
            <a:r>
              <a:t>Tune assessment thresholds against actual diagnoses and repair costs.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991856" y="1664208"/>
            <a:ext cx="3547872" cy="4233672"/>
          </a:xfrm>
          <a:prstGeom prst="roundRect">
            <a:avLst>
              <a:gd name="adj" fmla="val 8000"/>
            </a:avLst>
          </a:prstGeom>
          <a:solidFill>
            <a:srgbClr val="FFFBF2"/>
          </a:solidFill>
          <a:ln>
            <a:solidFill>
              <a:srgbClr val="E7CE9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202168" y="1874520"/>
            <a:ext cx="3127248" cy="2286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000" b="1">
                <a:solidFill>
                  <a:srgbClr val="B58436"/>
                </a:solidFill>
                <a:latin typeface="Aptos"/>
              </a:defRPr>
            </a:pPr>
            <a:r>
              <a:t>03 / VERIFY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202168" y="2203704"/>
            <a:ext cx="3127248" cy="50292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000" b="1">
                <a:solidFill>
                  <a:srgbClr val="1F1611"/>
                </a:solidFill>
                <a:latin typeface="Georgia"/>
              </a:defRPr>
            </a:pPr>
            <a:r>
              <a:t>Document impact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202168" y="2816352"/>
            <a:ext cx="3127248" cy="2898648"/>
          </a:xfrm>
          <a:prstGeom prst="rect">
            <a:avLst/>
          </a:prstGeom>
          <a:noFill/>
        </p:spPr>
        <p:txBody>
          <a:bodyPr wrap="square" lIns="18288" rIns="18288" tIns="18288" bIns="18288" anchor="t">
            <a:spAutoFit/>
          </a:bodyPr>
          <a:lstStyle/>
          <a:p>
            <a:pPr algn="l">
              <a:defRPr sz="1500" b="0">
                <a:solidFill>
                  <a:srgbClr val="70604A"/>
                </a:solidFill>
                <a:latin typeface="Aptos"/>
              </a:defRPr>
            </a:pPr>
            <a:r>
              <a:t>Add chain of custody and traceable, device specific environmental methods.</a:t>
            </a:r>
          </a:p>
        </p:txBody>
      </p:sp>
    </p:spTree>
  </p:cSld>
  <p:clrMapOvr>
    <a:masterClrMapping/>
  </p:clrMapOvr>
  <p:transition spd="med" advClick="1">
    <p:fade/>
  </p:transition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301D13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vestige_hero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80176" y="0"/>
            <a:ext cx="6211519" cy="685800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0" y="0"/>
            <a:ext cx="6135624" cy="6858000"/>
          </a:xfrm>
          <a:prstGeom prst="rect">
            <a:avLst/>
          </a:prstGeom>
          <a:solidFill>
            <a:srgbClr val="301D1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94944" y="987552"/>
            <a:ext cx="4882896" cy="8412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4500" b="1">
                <a:solidFill>
                  <a:srgbClr val="FFFFFF"/>
                </a:solidFill>
                <a:latin typeface="Georgia"/>
              </a:defRPr>
            </a:pPr>
            <a:r>
              <a:t>VESTIGE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13232" y="2148840"/>
            <a:ext cx="4754880" cy="182880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2400" b="1">
                <a:solidFill>
                  <a:srgbClr val="E7CE97"/>
                </a:solidFill>
                <a:latin typeface="Aptos"/>
              </a:defRPr>
            </a:pPr>
            <a:r>
              <a:t>ASSESS  →  REPAIR  →</a:t>
            </a:r>
            <a:br/>
            <a:r>
              <a:t>REUSE  →  RECYCLE  →</a:t>
            </a:r>
            <a:br/>
            <a:r>
              <a:t>REWARD</a:t>
            </a:r>
          </a:p>
        </p:txBody>
      </p:sp>
      <p:sp>
        <p:nvSpPr>
          <p:cNvPr id="6" name="Rectangle 5"/>
          <p:cNvSpPr/>
          <p:nvPr/>
        </p:nvSpPr>
        <p:spPr>
          <a:xfrm>
            <a:off x="713232" y="4599432"/>
            <a:ext cx="4489704" cy="32004"/>
          </a:xfrm>
          <a:prstGeom prst="rect">
            <a:avLst/>
          </a:prstGeom>
          <a:solidFill>
            <a:srgbClr val="B5843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13232" y="4892040"/>
            <a:ext cx="4654296" cy="640080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700" b="0">
                <a:solidFill>
                  <a:srgbClr val="FFFFFF"/>
                </a:solidFill>
                <a:latin typeface="Aptos"/>
              </a:defRPr>
            </a:pPr>
            <a:r>
              <a:t>Problem statement + full project details in the repository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5815584"/>
            <a:ext cx="4782312" cy="384048"/>
          </a:xfrm>
          <a:prstGeom prst="rect">
            <a:avLst/>
          </a:prstGeom>
          <a:noFill/>
        </p:spPr>
        <p:txBody>
          <a:bodyPr wrap="square" lIns="18288" rIns="18288" tIns="18288" bIns="18288" anchor="ctr">
            <a:spAutoFit/>
          </a:bodyPr>
          <a:lstStyle/>
          <a:p>
            <a:pPr algn="l">
              <a:defRPr sz="1600" b="1">
                <a:solidFill>
                  <a:srgbClr val="E7CE97"/>
                </a:solidFill>
                <a:latin typeface="Aptos"/>
              </a:defRPr>
            </a:pPr>
            <a:r>
              <a:t>github.com/Jaswanth300/vestige</a:t>
            </a:r>
          </a:p>
        </p:txBody>
      </p:sp>
    </p:spTree>
  </p:cSld>
  <p:clrMapOvr>
    <a:masterClrMapping/>
  </p:clrMapOvr>
  <p:transition spd="med" advClick="1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